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2" r:id="rId4"/>
  </p:sldMasterIdLst>
  <p:notesMasterIdLst>
    <p:notesMasterId r:id="rId56"/>
  </p:notesMasterIdLst>
  <p:handoutMasterIdLst>
    <p:handoutMasterId r:id="rId57"/>
  </p:handoutMasterIdLst>
  <p:sldIdLst>
    <p:sldId id="327" r:id="rId5"/>
    <p:sldId id="330" r:id="rId6"/>
    <p:sldId id="331" r:id="rId7"/>
    <p:sldId id="332" r:id="rId8"/>
    <p:sldId id="298" r:id="rId9"/>
    <p:sldId id="262" r:id="rId10"/>
    <p:sldId id="336" r:id="rId11"/>
    <p:sldId id="333" r:id="rId12"/>
    <p:sldId id="334" r:id="rId13"/>
    <p:sldId id="335" r:id="rId14"/>
    <p:sldId id="263" r:id="rId15"/>
    <p:sldId id="299" r:id="rId16"/>
    <p:sldId id="302" r:id="rId17"/>
    <p:sldId id="264" r:id="rId18"/>
    <p:sldId id="266" r:id="rId19"/>
    <p:sldId id="265" r:id="rId20"/>
    <p:sldId id="276" r:id="rId21"/>
    <p:sldId id="303" r:id="rId22"/>
    <p:sldId id="293" r:id="rId23"/>
    <p:sldId id="277" r:id="rId24"/>
    <p:sldId id="284" r:id="rId25"/>
    <p:sldId id="269" r:id="rId26"/>
    <p:sldId id="304" r:id="rId27"/>
    <p:sldId id="305" r:id="rId28"/>
    <p:sldId id="307" r:id="rId29"/>
    <p:sldId id="306" r:id="rId30"/>
    <p:sldId id="308" r:id="rId31"/>
    <p:sldId id="270" r:id="rId32"/>
    <p:sldId id="309" r:id="rId33"/>
    <p:sldId id="310" r:id="rId34"/>
    <p:sldId id="311" r:id="rId35"/>
    <p:sldId id="312" r:id="rId36"/>
    <p:sldId id="314" r:id="rId37"/>
    <p:sldId id="313" r:id="rId38"/>
    <p:sldId id="315" r:id="rId39"/>
    <p:sldId id="316" r:id="rId40"/>
    <p:sldId id="317" r:id="rId41"/>
    <p:sldId id="294" r:id="rId42"/>
    <p:sldId id="296" r:id="rId43"/>
    <p:sldId id="318" r:id="rId44"/>
    <p:sldId id="319" r:id="rId45"/>
    <p:sldId id="321" r:id="rId46"/>
    <p:sldId id="322" r:id="rId47"/>
    <p:sldId id="323" r:id="rId48"/>
    <p:sldId id="324" r:id="rId49"/>
    <p:sldId id="288" r:id="rId50"/>
    <p:sldId id="289" r:id="rId51"/>
    <p:sldId id="320" r:id="rId52"/>
    <p:sldId id="274" r:id="rId53"/>
    <p:sldId id="275" r:id="rId54"/>
    <p:sldId id="329" r:id="rId55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xmlns="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xmlns="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xmlns="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xmlns="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21619"/>
    <a:srgbClr val="1C7DDB"/>
    <a:srgbClr val="0948CB"/>
    <a:srgbClr val="0B49CB"/>
    <a:srgbClr val="F2F4F8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501"/>
    <p:restoredTop sz="85174"/>
  </p:normalViewPr>
  <p:slideViewPr>
    <p:cSldViewPr snapToGrid="0" snapToObjects="1">
      <p:cViewPr varScale="1">
        <p:scale>
          <a:sx n="61" d="100"/>
          <a:sy n="61" d="100"/>
        </p:scale>
        <p:origin x="-124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61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pPr/>
              <a:t>26-Jul-26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rithvi/SpaceX-IBM-Capstone/blob/fbf55af5fb7b19e6102f65a614cdb75be0b65a/Data%20Wrangling.ipyn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 err="1" smtClean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Phool</a:t>
            </a:r>
            <a:r>
              <a:rPr lang="en-US" dirty="0" smtClean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 Kumar </a:t>
            </a:r>
            <a:r>
              <a:rPr lang="en-US" dirty="0" err="1" smtClean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Oram</a:t>
            </a:r>
            <a:endParaRPr lang="en-US" dirty="0">
              <a:solidFill>
                <a:schemeClr val="bg2"/>
              </a:solidFill>
              <a:latin typeface="Abadi"/>
              <a:ea typeface="SF Pro" pitchFamily="2" charset="0"/>
              <a:cs typeface="SF Pro" pitchFamily="2" charset="0"/>
            </a:endParaRPr>
          </a:p>
          <a:p>
            <a:r>
              <a:rPr lang="en-US" dirty="0" smtClean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26 July 2026</a:t>
            </a:r>
            <a:endParaRPr lang="en-US" dirty="0">
              <a:solidFill>
                <a:schemeClr val="bg2"/>
              </a:solidFill>
              <a:latin typeface="Abadi" panose="020B0604020104020204" pitchFamily="34" charset="0"/>
              <a:ea typeface="SF Pro" pitchFamily="2" charset="0"/>
              <a:cs typeface="SF Pro" pitchFamily="2" charset="0"/>
            </a:endParaRP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xmlns="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xmlns="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201478" y="1348353"/>
            <a:ext cx="11778711" cy="5284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Project background and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context</a:t>
            </a:r>
          </a:p>
          <a:p>
            <a:pPr>
              <a:spcBef>
                <a:spcPts val="1400"/>
              </a:spcBef>
            </a:pP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has become one of the frontrunners in the space race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It offers launching a space craft at a price much lower than what is offered by its competitors 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One of the main reason why this is possible is because of the reusable nature of its first stage of the rocket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We would like to understand what factors affect the successful landing of the first stage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Problems you want to find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answers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Some of the question we would like to answer are: what factor impact the successful landing of the first stage launching site, payload mass, combination of the two, proximity of geographical features like coast to the launching site etc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We also would like to predict the outcome of a launch by modeling its historical data</a:t>
            </a:r>
            <a:endParaRPr lang="en-US" sz="2200" dirty="0">
              <a:solidFill>
                <a:srgbClr val="121619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xmlns="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 smtClean="0">
                <a:solidFill>
                  <a:srgbClr val="121619"/>
                </a:solidFill>
                <a:latin typeface="Abadi"/>
              </a:rPr>
              <a:t>API Request: Pulled data from endpoints </a:t>
            </a:r>
            <a:r>
              <a:rPr lang="en-US" sz="7600" dirty="0" err="1" smtClean="0">
                <a:solidFill>
                  <a:srgbClr val="121619"/>
                </a:solidFill>
                <a:latin typeface="Abadi"/>
              </a:rPr>
              <a:t>SpaceX</a:t>
            </a:r>
            <a:r>
              <a:rPr lang="en-US" sz="7600" dirty="0" smtClean="0">
                <a:solidFill>
                  <a:srgbClr val="121619"/>
                </a:solidFill>
                <a:latin typeface="Abadi"/>
              </a:rPr>
              <a:t> API using python request library to gather core operational variables.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 smtClean="0">
                <a:solidFill>
                  <a:srgbClr val="121619"/>
                </a:solidFill>
                <a:latin typeface="Abadi"/>
              </a:rPr>
              <a:t>Web Scraping: Extracted tabular launch records  from </a:t>
            </a:r>
            <a:r>
              <a:rPr lang="en-US" sz="7600" dirty="0" err="1" smtClean="0">
                <a:solidFill>
                  <a:srgbClr val="121619"/>
                </a:solidFill>
                <a:latin typeface="Abadi"/>
              </a:rPr>
              <a:t>wikipedia</a:t>
            </a:r>
            <a:r>
              <a:rPr lang="en-US" sz="7600" dirty="0" smtClean="0">
                <a:solidFill>
                  <a:srgbClr val="121619"/>
                </a:solidFill>
                <a:latin typeface="Abadi"/>
              </a:rPr>
              <a:t> using </a:t>
            </a:r>
            <a:r>
              <a:rPr lang="en-US" sz="7600" dirty="0" err="1" smtClean="0">
                <a:solidFill>
                  <a:srgbClr val="121619"/>
                </a:solidFill>
                <a:latin typeface="Abadi"/>
              </a:rPr>
              <a:t>BeautifulSoup</a:t>
            </a:r>
            <a:r>
              <a:rPr lang="en-US" sz="7600" dirty="0" smtClean="0">
                <a:solidFill>
                  <a:srgbClr val="121619"/>
                </a:solidFill>
                <a:latin typeface="Abadi"/>
              </a:rPr>
              <a:t> to Supplement missing historical records.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 smtClean="0">
                <a:solidFill>
                  <a:srgbClr val="121619"/>
                </a:solidFill>
                <a:latin typeface="Abadi"/>
              </a:rPr>
              <a:t>Features Gathered: Collected data points including rocket types, payload mass, launch site coordinates, landing outcome and flight numbers.</a:t>
            </a:r>
            <a:endParaRPr lang="en-US" sz="7600" dirty="0">
              <a:solidFill>
                <a:srgbClr val="121619"/>
              </a:solidFill>
              <a:latin typeface="Abadi"/>
            </a:endParaRP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B49CB"/>
                </a:solidFill>
                <a:latin typeface="Abadi"/>
              </a:rPr>
              <a:t>Methodology</a:t>
            </a:r>
            <a:r>
              <a:rPr lang="en-US" dirty="0" smtClean="0">
                <a:solidFill>
                  <a:srgbClr val="0B49CB"/>
                </a:solidFill>
              </a:rPr>
              <a:t/>
            </a:r>
            <a:br>
              <a:rPr lang="en-US" dirty="0" smtClean="0">
                <a:solidFill>
                  <a:srgbClr val="0B49CB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765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4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dirty="0" smtClean="0">
                <a:solidFill>
                  <a:srgbClr val="121619"/>
                </a:solidFill>
                <a:latin typeface="Abadi"/>
              </a:rPr>
              <a:t>Missing Value Imputation: Identified null values in critical columns like landing outcomes and replaced them with appropriate categorical placeholders.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dirty="0" smtClean="0">
                <a:solidFill>
                  <a:srgbClr val="121619"/>
                </a:solidFill>
                <a:latin typeface="Abadi"/>
              </a:rPr>
              <a:t>Outcome Labeling: Standardized categorical landing string into a clean binary target variable. 1 for successful landing 0 for a failed landing.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dirty="0" smtClean="0">
                <a:solidFill>
                  <a:srgbClr val="121619"/>
                </a:solidFill>
                <a:latin typeface="Abadi"/>
              </a:rPr>
              <a:t>One Hot Encoding: Converted categorical features such as Launch Site names and Orbit targets into binary indicator columns for model readiness.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b="1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SQL Querying: Used </a:t>
            </a:r>
            <a:r>
              <a:rPr lang="en-US" sz="20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SQLite</a:t>
            </a: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/</a:t>
            </a:r>
            <a:r>
              <a:rPr lang="en-US" sz="20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DuckDB</a:t>
            </a: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 to write relational queries analyzing flight counts, success rates by site and total payload distribution.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Key Findings: Observed distinct success rate disparities among different launch pads and a general upwards trend in success over time.</a:t>
            </a:r>
          </a:p>
          <a:p>
            <a:pPr>
              <a:lnSpc>
                <a:spcPct val="120000"/>
              </a:lnSpc>
              <a:spcBef>
                <a:spcPts val="1400"/>
              </a:spcBef>
              <a:buNone/>
            </a:pPr>
            <a:endParaRPr lang="en-US" sz="2000" dirty="0" smtClean="0">
              <a:solidFill>
                <a:schemeClr val="bg2">
                  <a:lumMod val="50000"/>
                </a:schemeClr>
              </a:solidFill>
              <a:latin typeface="Abadi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B49CB"/>
                </a:solidFill>
                <a:latin typeface="Abadi"/>
              </a:rPr>
              <a:t>Methodology</a:t>
            </a:r>
            <a:r>
              <a:rPr lang="en-US" dirty="0" smtClean="0">
                <a:solidFill>
                  <a:srgbClr val="0B49CB"/>
                </a:solidFill>
              </a:rPr>
              <a:t/>
            </a:r>
            <a:br>
              <a:rPr lang="en-US" dirty="0" smtClean="0">
                <a:solidFill>
                  <a:srgbClr val="0B49CB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b="1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2000" b="1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2000" b="1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Folium Maps: Created interactive geographical maps overlaying launch sites with </a:t>
            </a:r>
            <a:r>
              <a:rPr lang="en-US" sz="20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colot</a:t>
            </a: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 coded markers, green for success red for failure to analyze spatial distribution.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Proximity Calculation: Calculated distance from launch </a:t>
            </a:r>
            <a:r>
              <a:rPr lang="en-US" sz="20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compleses</a:t>
            </a: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 to coastline, highways and railways using Folium marker </a:t>
            </a:r>
            <a:r>
              <a:rPr lang="en-US" sz="20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plugins</a:t>
            </a: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20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 Dash: Developed a live dashboard featuring dropdown filters and range sliders linking landing success rates dynamically to payload mass.</a:t>
            </a:r>
          </a:p>
          <a:p>
            <a:pPr>
              <a:lnSpc>
                <a:spcPct val="120000"/>
              </a:lnSpc>
              <a:spcBef>
                <a:spcPts val="1400"/>
              </a:spcBef>
              <a:buNone/>
            </a:pPr>
            <a:endParaRPr lang="en-US" sz="2000" dirty="0" smtClean="0">
              <a:solidFill>
                <a:schemeClr val="bg2">
                  <a:lumMod val="50000"/>
                </a:schemeClr>
              </a:solidFill>
              <a:latin typeface="Abadi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2000" b="1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2000" dirty="0" smtClean="0">
                <a:solidFill>
                  <a:srgbClr val="121619"/>
                </a:solidFill>
                <a:latin typeface="Abadi"/>
              </a:rPr>
              <a:t>Model Building: Developed and tuned four core classification algorithms: Logistic regression, Support Vector Machine (SVM), Decision Tree and K-Nearest Neighbors(KNN)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2000" dirty="0" smtClean="0">
                <a:solidFill>
                  <a:srgbClr val="121619"/>
                </a:solidFill>
                <a:latin typeface="Abadi"/>
              </a:rPr>
              <a:t>Hyper parameter Tuning: Executed automated grid searches (</a:t>
            </a:r>
            <a:r>
              <a:rPr lang="en-US" sz="2000" dirty="0" err="1" smtClean="0">
                <a:solidFill>
                  <a:srgbClr val="121619"/>
                </a:solidFill>
                <a:latin typeface="Abadi"/>
              </a:rPr>
              <a:t>GridSearchCV</a:t>
            </a:r>
            <a:r>
              <a:rPr lang="en-US" sz="2000" dirty="0" smtClean="0">
                <a:solidFill>
                  <a:srgbClr val="121619"/>
                </a:solidFill>
                <a:latin typeface="Abadi"/>
              </a:rPr>
              <a:t>) across diverse parameter grids to optimize model metrics.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2000" dirty="0" smtClean="0">
                <a:solidFill>
                  <a:srgbClr val="121619"/>
                </a:solidFill>
                <a:latin typeface="Abadi"/>
              </a:rPr>
              <a:t>Model Evaluation: Measured and compared performance across all models using accuracy scores, confusion metrics and </a:t>
            </a:r>
            <a:r>
              <a:rPr lang="en-US" sz="2000" dirty="0" err="1" smtClean="0">
                <a:solidFill>
                  <a:srgbClr val="121619"/>
                </a:solidFill>
                <a:latin typeface="Abadi"/>
              </a:rPr>
              <a:t>jaccard</a:t>
            </a:r>
            <a:r>
              <a:rPr lang="en-US" sz="2000" dirty="0" smtClean="0">
                <a:solidFill>
                  <a:srgbClr val="121619"/>
                </a:solidFill>
                <a:latin typeface="Abadi"/>
              </a:rPr>
              <a:t> indices to identify the optimal deployment model.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collected.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8866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</p:nvPr>
        </p:nvGraphicFramePr>
        <p:xfrm>
          <a:off x="5910263" y="1792288"/>
          <a:ext cx="5461000" cy="2955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1000"/>
              </a:tblGrid>
              <a:tr h="1060481">
                <a:tc>
                  <a:txBody>
                    <a:bodyPr/>
                    <a:lstStyle/>
                    <a:p>
                      <a:r>
                        <a:rPr lang="en-US" dirty="0" smtClean="0"/>
                        <a:t>Use GET request for </a:t>
                      </a:r>
                      <a:r>
                        <a:rPr lang="en-US" dirty="0" err="1" smtClean="0"/>
                        <a:t>SpaceX</a:t>
                      </a:r>
                      <a:r>
                        <a:rPr lang="en-US" dirty="0" smtClean="0"/>
                        <a:t> data request get method applied on endpoint in </a:t>
                      </a:r>
                      <a:r>
                        <a:rPr lang="en-US" dirty="0" err="1" smtClean="0"/>
                        <a:t>json</a:t>
                      </a:r>
                      <a:r>
                        <a:rPr lang="en-US" dirty="0" smtClean="0"/>
                        <a:t> format</a:t>
                      </a:r>
                      <a:endParaRPr lang="en-US" dirty="0"/>
                    </a:p>
                  </a:txBody>
                  <a:tcPr/>
                </a:tc>
              </a:tr>
              <a:tr h="614406">
                <a:tc>
                  <a:txBody>
                    <a:bodyPr/>
                    <a:lstStyle/>
                    <a:p>
                      <a:r>
                        <a:rPr lang="en-US" dirty="0" smtClean="0"/>
                        <a:t>Covert the data into a </a:t>
                      </a:r>
                      <a:r>
                        <a:rPr lang="en-US" dirty="0" err="1" smtClean="0"/>
                        <a:t>dataframe</a:t>
                      </a:r>
                      <a:r>
                        <a:rPr lang="en-US" dirty="0" smtClean="0"/>
                        <a:t> using </a:t>
                      </a:r>
                      <a:r>
                        <a:rPr lang="en-US" dirty="0" err="1" smtClean="0"/>
                        <a:t>json_normalize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</a:tr>
              <a:tr h="61440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Fileter</a:t>
                      </a:r>
                      <a:r>
                        <a:rPr lang="en-US" dirty="0" smtClean="0"/>
                        <a:t> the data so that only Falcon9 launches are present-</a:t>
                      </a:r>
                      <a:r>
                        <a:rPr lang="en-US" dirty="0" err="1" smtClean="0"/>
                        <a:t>df</a:t>
                      </a:r>
                      <a:r>
                        <a:rPr lang="en-US" dirty="0" smtClean="0"/>
                        <a:t>[</a:t>
                      </a:r>
                      <a:r>
                        <a:rPr lang="en-US" dirty="0" err="1" smtClean="0"/>
                        <a:t>df</a:t>
                      </a:r>
                      <a:r>
                        <a:rPr lang="en-US" dirty="0" smtClean="0"/>
                        <a:t>[‘</a:t>
                      </a:r>
                      <a:r>
                        <a:rPr lang="en-US" dirty="0" err="1" smtClean="0"/>
                        <a:t>BoosterVersion</a:t>
                      </a:r>
                      <a:r>
                        <a:rPr lang="en-US" dirty="0" smtClean="0"/>
                        <a:t>’]==‘Falcon9]</a:t>
                      </a:r>
                      <a:endParaRPr lang="en-US" dirty="0"/>
                    </a:p>
                  </a:txBody>
                  <a:tcPr/>
                </a:tc>
              </a:tr>
              <a:tr h="614406">
                <a:tc>
                  <a:txBody>
                    <a:bodyPr/>
                    <a:lstStyle/>
                    <a:p>
                      <a:r>
                        <a:rPr lang="en-US" dirty="0" smtClean="0"/>
                        <a:t>Replace the row with zero payload mass with that of the mean payload mass – </a:t>
                      </a:r>
                      <a:r>
                        <a:rPr lang="en-US" dirty="0" err="1" smtClean="0"/>
                        <a:t>df</a:t>
                      </a:r>
                      <a:r>
                        <a:rPr lang="en-US" dirty="0" smtClean="0"/>
                        <a:t>[‘</a:t>
                      </a:r>
                      <a:r>
                        <a:rPr lang="en-US" dirty="0" err="1" smtClean="0"/>
                        <a:t>PayloadMass</a:t>
                      </a:r>
                      <a:r>
                        <a:rPr lang="en-US" dirty="0" smtClean="0"/>
                        <a:t>’].replace()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REST calls using key phrases and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flowcharts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GitHub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URL of the completed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API calls notebook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r>
              <a:rPr lang="en-US" dirty="0" smtClean="0"/>
              <a:t>https://</a:t>
            </a:r>
            <a:r>
              <a:rPr lang="en-US" dirty="0" smtClean="0"/>
              <a:t>github.com/Phookumar/SpaceX-IBM-Capstone/blob/ee411cf43279b793389d34788ca4689f31de1330/Data%20Collection%20API.ipynb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xmlns="" val="280316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240100"/>
            <a:ext cx="3932238" cy="540867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flowcharts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GitHub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URL of the completed web scraping notebook, as an external reference and peer-review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purpose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400" dirty="0" smtClean="0"/>
              <a:t>https://github.com/hprithvi/SpaceX-IBM-Capstone/blob/1fd4a998d51e592561a72d4b013b57b422997961/Web%20Scraping%20SpaceX%20data.ipynb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xmlns="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10262" y="1792286"/>
          <a:ext cx="5375349" cy="4206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349"/>
              </a:tblGrid>
              <a:tr h="1051719">
                <a:tc>
                  <a:txBody>
                    <a:bodyPr/>
                    <a:lstStyle/>
                    <a:p>
                      <a:r>
                        <a:rPr lang="en-US" dirty="0" smtClean="0"/>
                        <a:t>Create a </a:t>
                      </a:r>
                      <a:r>
                        <a:rPr lang="en-US" dirty="0" err="1" smtClean="0"/>
                        <a:t>BeautifulSoup</a:t>
                      </a:r>
                      <a:r>
                        <a:rPr lang="en-US" dirty="0" smtClean="0"/>
                        <a:t> object and pass the response from </a:t>
                      </a:r>
                      <a:r>
                        <a:rPr lang="en-US" dirty="0" err="1" smtClean="0"/>
                        <a:t>request.get</a:t>
                      </a:r>
                      <a:r>
                        <a:rPr lang="en-US" dirty="0" smtClean="0"/>
                        <a:t>() command to it.</a:t>
                      </a:r>
                      <a:endParaRPr lang="en-US" dirty="0"/>
                    </a:p>
                  </a:txBody>
                  <a:tcPr/>
                </a:tc>
              </a:tr>
              <a:tr h="1051719">
                <a:tc>
                  <a:txBody>
                    <a:bodyPr/>
                    <a:lstStyle/>
                    <a:p>
                      <a:r>
                        <a:rPr lang="en-US" dirty="0" smtClean="0"/>
                        <a:t>Extract the column names from the tables by running through the table titles and columns</a:t>
                      </a:r>
                      <a:endParaRPr lang="en-US" dirty="0"/>
                    </a:p>
                  </a:txBody>
                  <a:tcPr/>
                </a:tc>
              </a:tr>
              <a:tr h="1051719">
                <a:tc>
                  <a:txBody>
                    <a:bodyPr/>
                    <a:lstStyle/>
                    <a:p>
                      <a:r>
                        <a:rPr lang="en-US" dirty="0" smtClean="0"/>
                        <a:t>Extract the data present in the html tables into</a:t>
                      </a:r>
                      <a:r>
                        <a:rPr lang="en-US" baseline="0" dirty="0" smtClean="0"/>
                        <a:t> a </a:t>
                      </a:r>
                      <a:r>
                        <a:rPr lang="en-US" baseline="0" dirty="0" err="1" smtClean="0"/>
                        <a:t>dataframe</a:t>
                      </a:r>
                      <a:r>
                        <a:rPr lang="en-US" baseline="0" dirty="0" smtClean="0"/>
                        <a:t> by running through each row in each table</a:t>
                      </a:r>
                      <a:endParaRPr lang="en-US" dirty="0"/>
                    </a:p>
                  </a:txBody>
                  <a:tcPr/>
                </a:tc>
              </a:tr>
              <a:tr h="1051719">
                <a:tc>
                  <a:txBody>
                    <a:bodyPr/>
                    <a:lstStyle/>
                    <a:p>
                      <a:r>
                        <a:rPr lang="en-US" dirty="0" smtClean="0"/>
                        <a:t>Export the data into a </a:t>
                      </a:r>
                      <a:r>
                        <a:rPr lang="en-US" dirty="0" err="1" smtClean="0"/>
                        <a:t>csv</a:t>
                      </a:r>
                      <a:r>
                        <a:rPr lang="en-US" dirty="0" smtClean="0"/>
                        <a:t> file and store it on local memory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85553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286360"/>
            <a:ext cx="11163684" cy="5571640"/>
          </a:xfrm>
          <a:prstGeom prst="rect">
            <a:avLst/>
          </a:prstGeom>
        </p:spPr>
        <p:txBody>
          <a:bodyPr/>
          <a:lstStyle/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processed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GitHub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URL of your completed data wrangling related notebooks, as an external reference and peer-review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purpose</a:t>
            </a:r>
            <a:endParaRPr lang="en-US" dirty="0"/>
          </a:p>
          <a:p>
            <a:r>
              <a:rPr lang="en-US" dirty="0" smtClean="0">
                <a:hlinkClick r:id="rId3"/>
              </a:rPr>
              <a:t>https://github.com/hprithvi/SpaceX-IBM-Capstone/blob/fbf55af5fb7b19e6102f65a614cdb75be0b65a/Data%20Wrangling.ipynb</a:t>
            </a:r>
            <a:endParaRPr lang="en-US" dirty="0"/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0011" y="4327830"/>
          <a:ext cx="11163684" cy="1697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3684"/>
              </a:tblGrid>
              <a:tr h="600463">
                <a:tc>
                  <a:txBody>
                    <a:bodyPr/>
                    <a:lstStyle/>
                    <a:p>
                      <a:r>
                        <a:rPr lang="en-US" dirty="0" smtClean="0"/>
                        <a:t>Data</a:t>
                      </a:r>
                      <a:r>
                        <a:rPr lang="en-US" baseline="0" dirty="0" smtClean="0"/>
                        <a:t> was processed by making use of pandas and </a:t>
                      </a:r>
                      <a:r>
                        <a:rPr lang="en-US" baseline="0" dirty="0" err="1" smtClean="0"/>
                        <a:t>numpy</a:t>
                      </a:r>
                      <a:r>
                        <a:rPr lang="en-US" baseline="0" dirty="0" smtClean="0"/>
                        <a:t> libraries and associated </a:t>
                      </a:r>
                      <a:r>
                        <a:rPr lang="en-US" baseline="0" dirty="0" err="1" smtClean="0"/>
                        <a:t>funstions</a:t>
                      </a:r>
                      <a:r>
                        <a:rPr lang="en-US" baseline="0" dirty="0" smtClean="0"/>
                        <a:t>, methods</a:t>
                      </a:r>
                      <a:endParaRPr lang="en-US" dirty="0"/>
                    </a:p>
                  </a:txBody>
                  <a:tcPr/>
                </a:tc>
              </a:tr>
              <a:tr h="346419">
                <a:tc>
                  <a:txBody>
                    <a:bodyPr/>
                    <a:lstStyle/>
                    <a:p>
                      <a:r>
                        <a:rPr lang="en-US" dirty="0" smtClean="0"/>
                        <a:t>Question like launches per site, launches in different orbits,</a:t>
                      </a:r>
                      <a:endParaRPr lang="en-US" dirty="0"/>
                    </a:p>
                  </a:txBody>
                  <a:tcPr/>
                </a:tc>
              </a:tr>
              <a:tr h="346419">
                <a:tc>
                  <a:txBody>
                    <a:bodyPr/>
                    <a:lstStyle/>
                    <a:p>
                      <a:r>
                        <a:rPr lang="en-US" dirty="0" smtClean="0"/>
                        <a:t>Create a column in the </a:t>
                      </a:r>
                      <a:r>
                        <a:rPr lang="en-US" dirty="0" err="1" smtClean="0"/>
                        <a:t>df</a:t>
                      </a:r>
                      <a:r>
                        <a:rPr lang="en-US" dirty="0" smtClean="0"/>
                        <a:t> called ‘Class’ which is 1 for successful landing and 0 otherwise.</a:t>
                      </a:r>
                      <a:endParaRPr lang="en-US" dirty="0"/>
                    </a:p>
                  </a:txBody>
                  <a:tcPr/>
                </a:tc>
              </a:tr>
              <a:tr h="346419">
                <a:tc>
                  <a:txBody>
                    <a:bodyPr/>
                    <a:lstStyle/>
                    <a:p>
                      <a:r>
                        <a:rPr lang="en-US" dirty="0" smtClean="0"/>
                        <a:t>Mean success rate is calculated and the data exported to a </a:t>
                      </a:r>
                      <a:r>
                        <a:rPr lang="en-US" dirty="0" err="1" smtClean="0"/>
                        <a:t>csv</a:t>
                      </a:r>
                      <a:r>
                        <a:rPr lang="en-US" dirty="0" smtClean="0"/>
                        <a:t> on local memory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8755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4"/>
            <a:ext cx="9745589" cy="5032375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Add the </a:t>
            </a:r>
            <a:r>
              <a:rPr lang="en-US" sz="2200" dirty="0" err="1">
                <a:solidFill>
                  <a:srgbClr val="1C7DDB"/>
                </a:solidFill>
                <a:latin typeface="Abadi" panose="020B0604020104020204" pitchFamily="34" charset="0"/>
              </a:rPr>
              <a:t>GitHub</a:t>
            </a: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 URL of your completed EDA with data visualization notebook, as an external reference and peer-review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purpose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plots of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launcheSite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Flight Number, Launch Site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Payload Mass, Orbit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Flight Number, Orbit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PayloadMass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, Bar chart of success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ratevs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Orbit, Line plot of average success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year are plotted.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Feature Engineering was also carried out by creating dummy variables for categorical variables.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400" dirty="0" smtClean="0"/>
              <a:t>https://github.com/hprithvi/SpaceX-IBM-Capstone/blob/745e7048e7078b93d657a7e8071cbbfde78f17c6/EDA%20with%20Viz%20lab.ipynb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xmlns="" val="779971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813174"/>
            <a:ext cx="9745589" cy="6150009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b="1" dirty="0">
                <a:solidFill>
                  <a:srgbClr val="00B0F0"/>
                </a:solidFill>
                <a:latin typeface="Abadi"/>
              </a:rPr>
              <a:t>Using bullet point format, summarize the SQL queries you </a:t>
            </a:r>
            <a:r>
              <a:rPr lang="en-US" sz="2200" b="1" dirty="0" smtClean="0">
                <a:solidFill>
                  <a:srgbClr val="00B0F0"/>
                </a:solidFill>
                <a:latin typeface="Abadi"/>
              </a:rPr>
              <a:t>performed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Select Distinct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launch_site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 to display names of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Number of launches from each launch site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Display top 5 records where launch site begins with ‘CCA’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Display Average and total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Launch date of first successful launch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of booster with successful landing where payload mass is between 4000and 6000kg those that carried maximum payload mass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00B0F0"/>
                </a:solidFill>
                <a:latin typeface="Abadi" panose="020B0604020104020204" pitchFamily="34" charset="0"/>
              </a:rPr>
              <a:t>Add the </a:t>
            </a:r>
            <a:r>
              <a:rPr lang="en-US" sz="2200" dirty="0" err="1">
                <a:solidFill>
                  <a:srgbClr val="00B0F0"/>
                </a:solidFill>
                <a:latin typeface="Abadi" panose="020B0604020104020204" pitchFamily="34" charset="0"/>
              </a:rPr>
              <a:t>GitHub</a:t>
            </a:r>
            <a:r>
              <a:rPr lang="en-US" sz="2200" dirty="0">
                <a:solidFill>
                  <a:srgbClr val="00B0F0"/>
                </a:solidFill>
                <a:latin typeface="Abadi" panose="020B0604020104020204" pitchFamily="34" charset="0"/>
              </a:rPr>
              <a:t> URL of your completed EDA with SQL notebook, as an external reference and peer-review </a:t>
            </a:r>
            <a:r>
              <a:rPr lang="en-US" sz="2200" dirty="0" smtClean="0">
                <a:solidFill>
                  <a:srgbClr val="00B0F0"/>
                </a:solidFill>
                <a:latin typeface="Abadi" panose="020B0604020104020204" pitchFamily="34" charset="0"/>
              </a:rPr>
              <a:t>purpose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400" dirty="0" smtClean="0"/>
              <a:t>https://github.com/hprithvi/SpaceX-IBM-Capstone/blob/c3ccb70efe9c37dff34c6307dd40fd7f2599226d/EDA%20SQL.ipynb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rgbClr val="00B0F0"/>
              </a:solidFill>
              <a:latin typeface="Abadi" panose="020B0604020104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0" y="264125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8726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3"/>
            <a:ext cx="10515600" cy="4758221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00B0F0"/>
                </a:solidFill>
                <a:latin typeface="Abadi" panose="020B0604020104020204" pitchFamily="34" charset="0"/>
              </a:rPr>
              <a:t>Summarize what map objects such as markers, circles, lines, etc. you created and added to a folium </a:t>
            </a:r>
            <a:r>
              <a:rPr lang="en-US" sz="2200" dirty="0" smtClean="0">
                <a:solidFill>
                  <a:srgbClr val="00B0F0"/>
                </a:solidFill>
                <a:latin typeface="Abadi" panose="020B0604020104020204" pitchFamily="34" charset="0"/>
              </a:rPr>
              <a:t>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Markers, Marker Clusters, Line Circle, pop-up label,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00B0F0"/>
                </a:solidFill>
                <a:latin typeface="Abadi" panose="020B0604020104020204" pitchFamily="34" charset="0"/>
              </a:rPr>
              <a:t>Explain why you added those </a:t>
            </a:r>
            <a:r>
              <a:rPr lang="en-US" sz="2200" dirty="0" smtClean="0">
                <a:solidFill>
                  <a:srgbClr val="00B0F0"/>
                </a:solidFill>
                <a:latin typeface="Abadi" panose="020B0604020104020204" pitchFamily="34" charset="0"/>
              </a:rPr>
              <a:t>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Markers are used to point to the exact location of the coordinates, </a:t>
            </a:r>
            <a:r>
              <a:rPr lang="en-US" sz="2200" dirty="0" err="1" smtClean="0">
                <a:solidFill>
                  <a:srgbClr val="121619"/>
                </a:solidFill>
                <a:latin typeface="Abadi" panose="020B0604020104020204" pitchFamily="34" charset="0"/>
              </a:rPr>
              <a:t>Markercluster</a:t>
            </a: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 to depict a bunch of Points associated with one location( here , it’s  success and failure of mission) Line to draw a line between two points on the map, </a:t>
            </a:r>
            <a:r>
              <a:rPr lang="en-US" sz="2200" dirty="0" err="1" smtClean="0">
                <a:solidFill>
                  <a:srgbClr val="121619"/>
                </a:solidFill>
                <a:latin typeface="Abadi" panose="020B0604020104020204" pitchFamily="34" charset="0"/>
              </a:rPr>
              <a:t>Circleto</a:t>
            </a: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 enable pointing out the location on a zoomed out map, pop up label to show some text over a location</a:t>
            </a:r>
            <a:endParaRPr lang="en-US" sz="2200" dirty="0">
              <a:solidFill>
                <a:srgbClr val="121619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00B0F0"/>
                </a:solidFill>
                <a:latin typeface="Abadi" panose="020B0604020104020204" pitchFamily="34" charset="0"/>
              </a:rPr>
              <a:t>Add the </a:t>
            </a:r>
            <a:r>
              <a:rPr lang="en-US" sz="2200" dirty="0" err="1">
                <a:solidFill>
                  <a:srgbClr val="00B0F0"/>
                </a:solidFill>
                <a:latin typeface="Abadi" panose="020B0604020104020204" pitchFamily="34" charset="0"/>
              </a:rPr>
              <a:t>GitHub</a:t>
            </a:r>
            <a:r>
              <a:rPr lang="en-US" sz="2200" dirty="0">
                <a:solidFill>
                  <a:srgbClr val="00B0F0"/>
                </a:solidFill>
                <a:latin typeface="Abadi" panose="020B0604020104020204" pitchFamily="34" charset="0"/>
              </a:rPr>
              <a:t> URL of your completed interactive map with Folium map, as an external reference and peer-review </a:t>
            </a:r>
            <a:r>
              <a:rPr lang="en-US" sz="2200" dirty="0" smtClean="0">
                <a:solidFill>
                  <a:srgbClr val="00B0F0"/>
                </a:solidFill>
                <a:latin typeface="Abadi" panose="020B0604020104020204" pitchFamily="34" charset="0"/>
              </a:rPr>
              <a:t>purpose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400" dirty="0" smtClean="0"/>
              <a:t>https://github.com/hprithvi/SpaceX-IBM-Capstone/blob//Data%20Collection%20API.ipynb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rgbClr val="00B0F0"/>
              </a:solidFill>
              <a:latin typeface="Abadi" panose="020B0604020104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114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xmlns="" val="334532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32854"/>
            <a:ext cx="11421990" cy="552514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Summarize how you built, evaluated, improved, and found the best performing classification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Used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sklearnlibrary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to split and train the data. Built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GridSearchCVobjects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for different techniques like Logistic Regression, Decision Trees, Support Vector Machine, and K-Nearest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Neighboursand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found the best performing parameters on train data and tested the scores for test data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Add the </a:t>
            </a:r>
            <a:r>
              <a:rPr lang="en-US" sz="2200" dirty="0" err="1" smtClean="0">
                <a:solidFill>
                  <a:srgbClr val="1C7DDB"/>
                </a:solidFill>
                <a:latin typeface="Abadi" panose="020B0604020104020204" pitchFamily="34" charset="0"/>
              </a:rPr>
              <a:t>GitHub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 URL of your completed predictive analysis lab, as an external reference and peer-review purpose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https://github.com/hprithvi/SpaceX-IBM-Capstone/blob/7bcada08e001d71e2efb6d930cf53354f374c449/ML%20Prediction.ipynb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40108" y="4107825"/>
          <a:ext cx="1115189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973"/>
                <a:gridCol w="2787973"/>
                <a:gridCol w="2787973"/>
                <a:gridCol w="2787973"/>
              </a:tblGrid>
              <a:tr h="283619">
                <a:tc>
                  <a:txBody>
                    <a:bodyPr/>
                    <a:lstStyle/>
                    <a:p>
                      <a:r>
                        <a:rPr lang="en-US" dirty="0" smtClean="0"/>
                        <a:t>Split Data into train</a:t>
                      </a:r>
                      <a:r>
                        <a:rPr lang="en-US" baseline="0" dirty="0" smtClean="0"/>
                        <a:t> and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Grid </a:t>
                      </a:r>
                      <a:r>
                        <a:rPr lang="en-US" dirty="0" err="1" smtClean="0"/>
                        <a:t>SearchCV</a:t>
                      </a:r>
                      <a:r>
                        <a:rPr lang="en-US" baseline="0" dirty="0" smtClean="0"/>
                        <a:t> 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</a:t>
                      </a:r>
                      <a:r>
                        <a:rPr lang="en-US" baseline="0" dirty="0" smtClean="0"/>
                        <a:t> Best Performing 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 the Model on Test Data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13711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11350875" cy="5050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results 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lvl="1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26" name="Picture 2" descr="C:\Users\SrC\Documents\IBM Data Science\Applied Data Science Capstone 10th of 12th\Image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1444" y="3270142"/>
            <a:ext cx="5176434" cy="3363133"/>
          </a:xfrm>
          <a:prstGeom prst="rect">
            <a:avLst/>
          </a:prstGeom>
          <a:noFill/>
        </p:spPr>
      </p:pic>
      <p:pic>
        <p:nvPicPr>
          <p:cNvPr id="1027" name="Picture 3" descr="C:\Users\SrC\Documents\IBM Data Science\Applied Data Science Capstone 10th of 12th\1-s2.0-S092702562030608X-gr4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69804" y="1985637"/>
            <a:ext cx="4915808" cy="43214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21008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xmlns="" val="178270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410347"/>
            <a:ext cx="11902697" cy="525392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rgbClr val="1C7DDB"/>
                </a:solidFill>
                <a:latin typeface="Abadi" panose="020B0604020104020204" pitchFamily="34" charset="0"/>
              </a:rPr>
              <a:t>Show a scatter plot of Flight Number vs. Launch </a:t>
            </a:r>
            <a:r>
              <a:rPr lang="en-CA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Site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Show the screenshot of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the </a:t>
            </a: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scatter plot with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explanations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This plot shows a scatter plot of site of launch for a given flight number with success/failure indicated in the legend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We can observe that failure are fewer in the later part of the X-axis which means that the success rate has improved over time.</a:t>
            </a:r>
            <a:endParaRPr lang="en-US" sz="2200" dirty="0">
              <a:solidFill>
                <a:srgbClr val="121619"/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2050" name="Picture 2" descr="C:\Users\SrC\Documents\IBM Data Science\Applied Data Science Capstone 10th of 12th\downloa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4525" y="4014061"/>
            <a:ext cx="11327027" cy="26502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865605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1456841"/>
            <a:ext cx="11024199" cy="517643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rgbClr val="1C7DDB"/>
                </a:solidFill>
                <a:latin typeface="Abadi" panose="020B0604020104020204" pitchFamily="34" charset="0"/>
              </a:rPr>
              <a:t>Show a scatter plot of Payload vs. Launch </a:t>
            </a:r>
            <a:r>
              <a:rPr lang="en-CA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Site</a:t>
            </a:r>
            <a:endParaRPr lang="en-US" sz="2200" dirty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Show the screenshot of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the </a:t>
            </a: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scatter plot with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explanations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The above is a scatter plot of Launch site vs. Payload Mass with success/failure indicated in the legend.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It can be observed that for higher payload mass, success rates are relatively higher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rgbClr val="1C7DDB"/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  <p:pic>
        <p:nvPicPr>
          <p:cNvPr id="3074" name="Picture 2" descr="C:\Users\SrC\Documents\IBM Data Science\Applied Data Science Capstone 10th of 12th\download (1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0011" y="2464229"/>
            <a:ext cx="11024198" cy="29601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869789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1472339"/>
            <a:ext cx="11421989" cy="538566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rgbClr val="1C7DDB"/>
                </a:solidFill>
                <a:latin typeface="Abadi" panose="020B0604020104020204" pitchFamily="34" charset="0"/>
              </a:rPr>
              <a:t>Show a </a:t>
            </a: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bar chart for the success rate of each orbit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type</a:t>
            </a:r>
            <a:endParaRPr lang="en-US" sz="2200" dirty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Show the screenshot of the scatter plot with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explanations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Success rate apparently depends on the orbit type also. A few orbits have 100% success arte. These orbit could be desirable for someone trying to launch a spacecraft.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4098" name="Picture 2" descr="C:\Users\SrC\Documents\IBM Data Science\Applied Data Science Capstone 10th of 12th\download (2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2957" y="2481361"/>
            <a:ext cx="11298264" cy="3544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80090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441342"/>
            <a:ext cx="11995687" cy="541665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rgbClr val="1C7DDB"/>
                </a:solidFill>
                <a:latin typeface="Abadi" panose="020B0604020104020204" pitchFamily="34" charset="0"/>
              </a:rPr>
              <a:t>Show a </a:t>
            </a: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scatter point of Flight number vs. Orbit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type</a:t>
            </a:r>
            <a:endParaRPr lang="en-US" sz="2200" dirty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Show the screenshot of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the </a:t>
            </a: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scatter plot with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explanations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21619"/>
                </a:solidFill>
                <a:latin typeface="Abadi" panose="020B0604020104020204" pitchFamily="34" charset="0"/>
              </a:rPr>
              <a:t>The above scatter plot clearly shows that certain orbit have high success rate. But it seems that a few orbit are preferred. We can also see a shift in the preference  of orbit over time with VLEO orbit being preferred of late.</a:t>
            </a:r>
            <a:endParaRPr lang="en-US" sz="2200" dirty="0">
              <a:solidFill>
                <a:srgbClr val="121619"/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5122" name="Picture 2" descr="C:\Users\SrC\Documents\IBM Data Science\Applied Data Science Capstone 10th of 12th\Flight vs Orbi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2202" y="2386739"/>
            <a:ext cx="9242417" cy="31151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106727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348353"/>
            <a:ext cx="11871701" cy="550964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type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explanations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Majority of the launches seems to have the payload in the rage of 2000-6000kg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Success rate seems to be higher payload mass (&gt;8000kg), however, number of such launches seems to be less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146" name="Picture 2" descr="C:\Users\SrC\Documents\IBM Data Science\Applied Data Science Capstone 10th of 12th\Payload vs orbi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6054" y="2411278"/>
            <a:ext cx="5331417" cy="31216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45340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1317356"/>
            <a:ext cx="10900213" cy="554064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rate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explanations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Success rate with time has increased with the highest success rate getting register in 2019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Only in 2018, 2020 the success rate is lower than that of the previous year.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  <p:pic>
        <p:nvPicPr>
          <p:cNvPr id="7170" name="Picture 2" descr="C:\Users\SrC\Documents\IBM Data Science\Applied Data Science Capstone 10th of 12th\Launch sucees yearly tren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2854" y="2293901"/>
            <a:ext cx="7811146" cy="30685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70659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01478" y="1549830"/>
            <a:ext cx="11990522" cy="5308169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There are four unique launch sites. DISTINCT is used to get the unique values from the table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pic>
        <p:nvPicPr>
          <p:cNvPr id="8194" name="Picture 2" descr="C:\Users\SrC\Documents\IBM Data Science\Applied Data Science Capstone 10th of 12th\All Launch site names.jpe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770011" y="2792186"/>
            <a:ext cx="9691346" cy="2895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27850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332854"/>
            <a:ext cx="12192003" cy="584286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6772" y="2495291"/>
          <a:ext cx="1160523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21"/>
                <a:gridCol w="1055021"/>
                <a:gridCol w="1055021"/>
                <a:gridCol w="1055021"/>
                <a:gridCol w="1055021"/>
                <a:gridCol w="1055021"/>
                <a:gridCol w="1055021"/>
                <a:gridCol w="1055021"/>
                <a:gridCol w="1055021"/>
                <a:gridCol w="1055021"/>
                <a:gridCol w="1055021"/>
              </a:tblGrid>
              <a:tr h="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>
                          <a:latin typeface="inherit"/>
                        </a:rPr>
                        <a:t>Date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>
                          <a:latin typeface="inherit"/>
                        </a:rPr>
                        <a:t>Time (UTC)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 err="1">
                          <a:latin typeface="inherit"/>
                        </a:rPr>
                        <a:t>Booster_Version</a:t>
                      </a:r>
                      <a:endParaRPr lang="en-US" sz="1200" b="0" dirty="0">
                        <a:latin typeface="inherit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 err="1">
                          <a:latin typeface="inherit"/>
                        </a:rPr>
                        <a:t>Launch_Site</a:t>
                      </a:r>
                      <a:endParaRPr lang="en-US" sz="1200" b="0" dirty="0">
                        <a:latin typeface="inherit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>
                          <a:latin typeface="inherit"/>
                        </a:rPr>
                        <a:t>Payload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>
                          <a:latin typeface="inherit"/>
                        </a:rPr>
                        <a:t>PAYLOAD_MASS__KG_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>
                          <a:latin typeface="inherit"/>
                        </a:rPr>
                        <a:t>Orbit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>
                          <a:latin typeface="inherit"/>
                        </a:rPr>
                        <a:t>Customer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 err="1">
                          <a:latin typeface="inherit"/>
                        </a:rPr>
                        <a:t>Mission_Outcome</a:t>
                      </a:r>
                      <a:endParaRPr lang="en-US" sz="1200" b="0" dirty="0">
                        <a:latin typeface="inherit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dirty="0" err="1">
                          <a:latin typeface="inherit"/>
                        </a:rPr>
                        <a:t>Landing_Outcome</a:t>
                      </a:r>
                      <a:endParaRPr lang="en-US" sz="1200" b="0" dirty="0">
                        <a:latin typeface="inherit"/>
                      </a:endParaRPr>
                    </a:p>
                  </a:txBody>
                  <a:tcPr marL="76200" marR="762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2010-06-04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18:45:00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F9 v1.0 B0003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CCAFS LC-40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Dragon Spacecraft Qualification Unit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LEO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SpaceX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Success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Failure (parachute)</a:t>
                      </a:r>
                    </a:p>
                  </a:txBody>
                  <a:tcPr marL="76200" marR="762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2010-12-08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15:43:00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F9 v1.0 B0004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CCAFS LC-40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Dragon demo flight C1, two </a:t>
                      </a:r>
                      <a:r>
                        <a:rPr lang="en-US" sz="1200" dirty="0" err="1">
                          <a:latin typeface="inherit"/>
                        </a:rPr>
                        <a:t>CubeSats</a:t>
                      </a:r>
                      <a:r>
                        <a:rPr lang="en-US" sz="1200" dirty="0">
                          <a:latin typeface="inherit"/>
                        </a:rPr>
                        <a:t>, barrel of...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LEO (ISS)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NASA (COTS) NRO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Success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Failure (parachute)</a:t>
                      </a:r>
                    </a:p>
                  </a:txBody>
                  <a:tcPr marL="76200" marR="762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2012-05-22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7:44:00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F9 v1.0 B0005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CCAFS LC-40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Dragon demo flight C2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525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LEO (ISS)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NASA (COTS)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Success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No attempt</a:t>
                      </a:r>
                    </a:p>
                  </a:txBody>
                  <a:tcPr marL="76200" marR="762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2012-10-08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0:35:00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F9 v1.0 B0006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CCAFS LC-40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SpaceX CRS-1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500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LEO (ISS)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NASA (CRS)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Success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No attempt</a:t>
                      </a:r>
                    </a:p>
                  </a:txBody>
                  <a:tcPr marL="76200" marR="76200" marT="38100" marB="381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2013-03-01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15:10:00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F9 v1.0 B0007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CCAFS LC-40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SpaceX CRS-2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677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LEO (ISS)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NASA (CRS)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>
                          <a:latin typeface="inherit"/>
                        </a:rPr>
                        <a:t>Success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dirty="0">
                          <a:latin typeface="inherit"/>
                        </a:rPr>
                        <a:t>No attempt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794738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pic>
        <p:nvPicPr>
          <p:cNvPr id="9218" name="Picture 2" descr="C:\Users\SrC\Documents\IBM Data Science\Applied Data Science Capstone 10th of 12th\Total Payload mas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4386" y="2782996"/>
            <a:ext cx="8688550" cy="20288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010014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WHERE and AVG() are used to get average payload mass in Falcon 9 v1.1 booster version.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pic>
        <p:nvPicPr>
          <p:cNvPr id="10242" name="Picture 2" descr="C:\Users\SrC\Documents\IBM Data Science\Applied Data Science Capstone 10th of 12th\Average Payload Mas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1461" y="2861913"/>
            <a:ext cx="9020444" cy="1838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35560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rgbClr val="1C7DDB"/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MIN()  function is applied on Date column in conjunction with WHERE function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pic>
        <p:nvPicPr>
          <p:cNvPr id="11266" name="Picture 2" descr="C:\Users\SrC\Documents\IBM Data Science\Applied Data Science Capstone 10th of 12th\First successful landing outcom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0010" y="2960688"/>
            <a:ext cx="9183688" cy="1857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34679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4"/>
            <a:ext cx="9745589" cy="503237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List the names of boosters which have successfully landed on drone ship and had payload mass greater than 4000 but less than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6000</a:t>
            </a:r>
            <a:endParaRPr lang="en-US" sz="2200" dirty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BETWEEN function is applied on Payload Mass column to get the booster versions that operated with payload mass between 4000 and 6000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  <p:pic>
        <p:nvPicPr>
          <p:cNvPr id="12290" name="Picture 2" descr="C:\Users\SrC\Documents\IBM Data Science\Applied Data Science Capstone 10th of 12th\Success drone shi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0302" y="3102179"/>
            <a:ext cx="7231063" cy="2705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639399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01858"/>
            <a:ext cx="9745589" cy="555614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 total of 100 successful mission and 1 failed mission is presented by using SUM() function on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Mission_Outcome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column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  <p:pic>
        <p:nvPicPr>
          <p:cNvPr id="13314" name="Picture 2" descr="C:\Users\SrC\Documents\IBM Data Science\Applied Data Science Capstone 10th of 12th\Total Number of success and failute outcom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3091" y="2297866"/>
            <a:ext cx="8078787" cy="2781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756972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17356"/>
            <a:ext cx="9745589" cy="554064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 sub query is used to get the max payload and used as an input in the main query to get the list of booster which carried the maximum load.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  <p:pic>
        <p:nvPicPr>
          <p:cNvPr id="14338" name="Picture 2" descr="C:\Users\SrC\Documents\IBM Data Science\Applied Data Science Capstone 10th of 12th\Booster carried Maximum Payload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7534" y="2510848"/>
            <a:ext cx="10410437" cy="3514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66646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79350"/>
            <a:ext cx="9745589" cy="5478650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rgbClr val="1C7DDB"/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 in drone ship, their booster versions, and launch site names for in year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2015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WHERE is used in conjunction with AND to get failed landing outcomes in 2015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pic>
        <p:nvPicPr>
          <p:cNvPr id="15362" name="Picture 2" descr="C:\Users\SrC\Documents\IBM Data Science\Applied Data Science Capstone 10th of 12th\2015 Luanch record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1543" y="2634711"/>
            <a:ext cx="9494056" cy="31306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984391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363850"/>
            <a:ext cx="11964692" cy="5494149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Rank the count of landing outcomes (such as Failure (drone ship) or Success (ground pad)) between the date 2010-06-04 and 2017-03-20, in descending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order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                                             WHERE DATE is between is used to                                    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                                                get records in that date range,  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                                                GROUP BY is used to get set of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                                                 landing outcomes DESC is used to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                                                             get the results in descending order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  <p:pic>
        <p:nvPicPr>
          <p:cNvPr id="16386" name="Picture 2" descr="C:\Users\SrC\Documents\IBM Data Science\Applied Data Science Capstone 10th of 12th\Rank count landing outcom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44" y="2984500"/>
            <a:ext cx="4911456" cy="38734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975168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xmlns="" val="1023352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01858"/>
            <a:ext cx="11421990" cy="5556142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Replace &lt;Folium map screenshot 1&gt; title with an appropriate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title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Explore the generated folium map and make a proper screenshot to include all launch sites’ location markers on a global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map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Explain the important elements and findings on the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screenshot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Launch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centres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 on the Map Only markers are visible in this zoomed out picture with names superimposed on the markers.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  <p:pic>
        <p:nvPicPr>
          <p:cNvPr id="31746" name="Picture 2" descr="https://camo.githubusercontent.com/0a9cc1468add37bf9054547b177ab51093179fb0782d1ad64e66e0a2eaf764cc/68747470733a2f2f63662d636f75727365732d646174612e73332e75732e636c6f75642d6f626a6563742d73746f726167652e617070646f6d61696e2e636c6f75642f49424d2d445330333231454e2d536b696c6c734e6574776f726b2f6c6162732f6d6f64756c655f332f696d616765732f6c61756e63685f736974655f6d61726b65725f636c75737465722e706e6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8385" y="2929181"/>
            <a:ext cx="8245100" cy="26502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9816717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11421990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Replace &lt;Folium map screenshot 2&gt; title with an appropriate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title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 map and make a proper screenshot to show the color-labeled launch outcomes on the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map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Explain the important elements and findings on the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screenshot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000" dirty="0" smtClean="0">
                <a:latin typeface="Abadi"/>
              </a:rPr>
              <a:t>From the color-labeled markers in marker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dirty="0" smtClean="0">
                <a:latin typeface="Abadi"/>
              </a:rPr>
              <a:t>   clusters, you should be able to easily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dirty="0" smtClean="0">
                <a:latin typeface="Abadi"/>
              </a:rPr>
              <a:t>   identify which launch sites have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dirty="0" smtClean="0">
                <a:latin typeface="Abadi"/>
              </a:rPr>
              <a:t>   relatively high success rates.</a:t>
            </a:r>
            <a:endParaRPr lang="en-US" sz="20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  <p:pic>
        <p:nvPicPr>
          <p:cNvPr id="6" name="Picture 4" descr="https://camo.githubusercontent.com/de4cbf71334512bc514c18d0b5e7a76434f43c66baf8900043129a8958742e83/68747470733a2f2f63662d636f75727365732d646174612e73332e75732e636c6f75642d6f626a6563742d73746f726167652e617070646f6d61696e2e636c6f75642f49424d2d445330333231454e2d536b696c6c734e6574776f726b2f6c6162732f6d6f64756c655f332f696d616765732f6c61756e63685f736974655f6d61726b65725f636c75737465725f7a6f6f6d65642e706e67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059838" y="3651173"/>
            <a:ext cx="5780868" cy="237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9597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79350"/>
            <a:ext cx="11421990" cy="547865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Replace &lt;Folium map screenshot 3&gt; title with an appropriate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title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displayed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Explain the important elements and findings on the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screenshot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Line showing proximity to railway line and cost.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It can be observed that the launch site are close to railway line and also coast.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  <p:pic>
        <p:nvPicPr>
          <p:cNvPr id="29698" name="Picture 2" descr="https://camo.githubusercontent.com/5b6a0339ab5d1a18417ab6ada566f879740fc919996db06ca8bd84eead7c89e9/68747470733a2f2f63662d636f75727365732d646174612e73332e75732e636c6f75642d6f626a6563742d73746f726167652e617070646f6d61696e2e636c6f75642f49424d2d445330333231454e2d536b696c6c734e6574776f726b2f6c6162732f6d6f64756c655f332f696d616765732f6c61756e63685f736974655f6d61726b65725f64697374616e63652e706e67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734373" y="3115159"/>
            <a:ext cx="5290842" cy="2355743"/>
          </a:xfrm>
          <a:prstGeom prst="rect">
            <a:avLst/>
          </a:prstGeom>
          <a:noFill/>
        </p:spPr>
      </p:pic>
      <p:pic>
        <p:nvPicPr>
          <p:cNvPr id="29700" name="Picture 4" descr="https://camo.githubusercontent.com/1d1b424a697eded96d1c44fa3599095875c1241b5da0c06390f84886cf44e16a/68747470733a2f2f63662d636f75727365732d646174612e73332e75732e636c6f75642d6f626a6563742d73746f726167652e617070646f6d61696e2e636c6f75642f49424d2d445330333231454e2d536b696c6c734e6574776f726b2f6c6162732f6d6f64756c655f332f696d616765732f7261696c7761792e706e6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60525" y="3115159"/>
            <a:ext cx="1504950" cy="2019301"/>
          </a:xfrm>
          <a:prstGeom prst="rect">
            <a:avLst/>
          </a:prstGeom>
          <a:noFill/>
        </p:spPr>
      </p:pic>
      <p:pic>
        <p:nvPicPr>
          <p:cNvPr id="29702" name="Picture 6" descr="https://camo.githubusercontent.com/fbdfd9eb41f456cf28ab75dc7a938c728c4ac82208f10267b325e64211d41e39/68747470733a2f2f63662d636f75727365732d646174612e73332e75732e636c6f75642d6f626a6563742d73746f726167652e617070646f6d61696e2e636c6f75642f49424d2d445330333231454e2d536b696c6c734e6574776f726b2f6c6162732f6d6f64756c655f332f696d616765732f686967687761792e706e6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34205" y="3191359"/>
            <a:ext cx="1962150" cy="19431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2499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xmlns="" val="733461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xmlns="" val="700132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xmlns="" val="1866160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xmlns="" val="252359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xmlns="" val="12903941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503336"/>
            <a:ext cx="12192000" cy="53546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/>
              </a:rPr>
              <a:t>Visualize the built model accuracy for all built classification models, in a bar </a:t>
            </a:r>
            <a:r>
              <a:rPr lang="en-US" sz="2200" dirty="0" smtClean="0">
                <a:solidFill>
                  <a:srgbClr val="1C7DDB"/>
                </a:solidFill>
                <a:latin typeface="Abadi"/>
              </a:rPr>
              <a:t>chart</a:t>
            </a:r>
            <a:endParaRPr lang="en-US" sz="2200" dirty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Find which model has the highest classification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accuracy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Logistic Regression, SVM, Decision Tree models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have same accuracy of 83.3% while KNN model </a:t>
            </a: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has a lower accuracy of 77.8%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23553" name="Picture 1" descr="C:\Users\SrC\Documents\IBM Data Science\Applied Data Science Capstone 10th of 12th\Method vs score.jpe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7782993" y="2572717"/>
            <a:ext cx="4029560" cy="3234561"/>
          </a:xfrm>
          <a:prstGeom prst="rect">
            <a:avLst/>
          </a:prstGeom>
          <a:noFill/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2809" y="3208149"/>
          <a:ext cx="694324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621"/>
                <a:gridCol w="347162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Model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Accuracy/ Score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</a:t>
                      </a:r>
                      <a:r>
                        <a:rPr lang="en-US" baseline="0" dirty="0" smtClean="0"/>
                        <a:t>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0.833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SVM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0.833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Decision Tree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0.833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K-Nearest Neighbors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0.778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594460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85980" y="1363851"/>
            <a:ext cx="11778711" cy="5494149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rgbClr val="1C7DDB"/>
                </a:solidFill>
                <a:latin typeface="Abadi" panose="020B0604020104020204" pitchFamily="34" charset="0"/>
              </a:rPr>
              <a:t>Show the confusion matrix of the best performing model with an </a:t>
            </a: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explanation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rgbClr val="1C7DDB"/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rgbClr val="1C7DDB"/>
                </a:solidFill>
                <a:latin typeface="Abadi" panose="020B0604020104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15 out of 18 outcomes have been correctly  predicted by the mode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22529" name="Picture 1" descr="C:\Users\SrC\Documents\IBM Data Science\Applied Data Science Capstone 10th of 12th\1-s2.0-S092702562030608X-gr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5076" y="2448733"/>
            <a:ext cx="7029853" cy="303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6450342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xmlns="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Landing outcome depends on flight parameters like payload mass, launch site, the orbit into which it is launched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 sites are closer to place like coast, railway line etc.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 success rate has increased over time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Out of the 4 different models that were used to model the data, 3 Models give the same accuracy in predicting the outcome. KNN performs poorly compared to the other models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01236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xmlns="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00085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1914</TotalTime>
  <Words>2598</Words>
  <Application>Microsoft Macintosh PowerPoint</Application>
  <PresentationFormat>Custom</PresentationFormat>
  <Paragraphs>470</Paragraphs>
  <Slides>51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Custom Design</vt:lpstr>
      <vt:lpstr>Slide 1</vt:lpstr>
      <vt:lpstr>Slide 2</vt:lpstr>
      <vt:lpstr>Slide 3</vt:lpstr>
      <vt:lpstr>Slide 4</vt:lpstr>
      <vt:lpstr>Slide 5</vt:lpstr>
      <vt:lpstr>Slide 6</vt:lpstr>
      <vt:lpstr>Methodology </vt:lpstr>
      <vt:lpstr>Methodology</vt:lpstr>
      <vt:lpstr>Methodology </vt:lpstr>
      <vt:lpstr>Methodology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SrC</cp:lastModifiedBy>
  <cp:revision>284</cp:revision>
  <dcterms:created xsi:type="dcterms:W3CDTF">2021-04-29T18:58:34Z</dcterms:created>
  <dcterms:modified xsi:type="dcterms:W3CDTF">2026-07-26T14:13:30Z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